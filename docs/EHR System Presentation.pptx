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Roboto ExtraBold"/>
      <p:bold r:id="rId19"/>
      <p:boldItalic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Merriweather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9ADFFE-A0AB-4F61-8BB3-D5F0C4260196}">
  <a:tblStyle styleId="{8C9ADFFE-A0AB-4F61-8BB3-D5F0C426019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ExtraBold-bold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bold.fntdata"/><Relationship Id="rId25" Type="http://schemas.openxmlformats.org/officeDocument/2006/relationships/font" Target="fonts/Merriweather-regular.fntdata"/><Relationship Id="rId28" Type="http://schemas.openxmlformats.org/officeDocument/2006/relationships/font" Target="fonts/Merriweather-boldItalic.fntdata"/><Relationship Id="rId27" Type="http://schemas.openxmlformats.org/officeDocument/2006/relationships/font" Target="fonts/Merriweath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ExtraBold-bold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9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31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5" Type="http://schemas.openxmlformats.org/officeDocument/2006/relationships/image" Target="../media/image12.png"/><Relationship Id="rId6" Type="http://schemas.openxmlformats.org/officeDocument/2006/relationships/image" Target="../media/image26.png"/><Relationship Id="rId7" Type="http://schemas.openxmlformats.org/officeDocument/2006/relationships/image" Target="../media/image32.png"/><Relationship Id="rId8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9.png"/><Relationship Id="rId5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23.png"/><Relationship Id="rId7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15327" y="1438275"/>
            <a:ext cx="10761300" cy="1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Σχεδιασμός και Ανάπτυξη ενός Πρωτότυπου Συστήματος Ηλεκτρονικού Φακέλου Υγείας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971550" y="2718196"/>
            <a:ext cx="1024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67E22"/>
                </a:solidFill>
                <a:latin typeface="Roboto"/>
                <a:ea typeface="Roboto"/>
                <a:cs typeface="Roboto"/>
                <a:sym typeface="Roboto"/>
              </a:rPr>
              <a:t>Εργαστήριο Βιοϊατρικής Τεχνολογίας | Μάρτιος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971550" y="5679396"/>
            <a:ext cx="10248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Διδάσκοντες: Γ. Ματσόπουλος, Κ. Νικήτα, Ο. Πετροπούλου, Ν. Μωραΐτης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971550" y="3365896"/>
            <a:ext cx="33528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Κ. Διαμαντάκος (03120832)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419600" y="3365896"/>
            <a:ext cx="33528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Ι. Ευ. Παππά (03122060)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867650" y="3365896"/>
            <a:ext cx="335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Χ. Ει. Γιαλενίδη Μανιά (03123881)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971550" y="3642121"/>
            <a:ext cx="33528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Π. Αργύρης (03122805)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419600" y="3642121"/>
            <a:ext cx="33528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Χ. Σκαλούμπακας (03122853)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rforos" id="94" name="Google Shape;9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38800" y="4074363"/>
            <a:ext cx="914400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4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383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193833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Ψηφιακός Μετασχηματισμός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2328862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Η εργασία πραγματεύεται τη μετάβαση από τους παραδοσιακούς έντυπους φακέλους σε ένα </a:t>
            </a:r>
            <a:r>
              <a:rPr b="1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ολοκληρωμένο ψηφιακό περιβάλλον</a:t>
            </a: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διαχείρισης ιατρικής πληροφορίας.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478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942975" y="3323183"/>
            <a:ext cx="49149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Κεντρική αποθήκευση ιατρικών δεδομένων.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942975" y="3789908"/>
            <a:ext cx="49149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Άμεση πρόσβαση στο ιστορικό ασθενούς.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942975" y="4256633"/>
            <a:ext cx="49149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Μείωση σφαλμάτων και απώλειας δεδομένων.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6128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2800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94733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ΕΙΣΑΓΩΓΗ &amp; ΣΚΟΠΟΣ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762000"/>
            <a:ext cx="5200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ΠΡΟΤΥΠΑ HL7 &amp; FHIR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1590675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Διαλειτουργικότητα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1981200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Το σύστημα ακολουθεί τις αρχές των διεθνών προτύπων </a:t>
            </a:r>
            <a:r>
              <a:rPr b="1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HL7 FHIR</a:t>
            </a: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, οργανώνοντας την πληροφορία σε διακριτά "Resources".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2872680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Αυτό επιτρέπει τη μελλοντική επικοινωνία με εξωτερικά συστήματα (νοσοκομεία, εργαστήρια) μέσω τυποποιημένων δομών δεδομένων για Ασθενείς, Διαγνώσεις και Συνταγές.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8457"/>
            <a:ext cx="3492549" cy="2849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18457"/>
            <a:ext cx="3492549" cy="2849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18457"/>
            <a:ext cx="3492549" cy="2849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75183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857250" y="3323332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Λειτουργικές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857250" y="3713857"/>
            <a:ext cx="292104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Διαχείριση στοιχείων ασθενών, καταγραφή διαγνώσεων (ICD-10), ηλεκτρονική συνταγογράφηση και παρακολούθηση νοσηλειών.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275183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4635549" y="3323332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Μη Λειτουργικές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4635549" y="3713857"/>
            <a:ext cx="292104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Ακεραιότητα δεδομένων μέσω PK/FK, υψηλή αξιοπιστία, ευχρηστία διεπαφής και επεκτασιμότητα αρχιτεκτονικής.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275183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8413849" y="3323332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Δεδομένα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8413849" y="3713857"/>
            <a:ext cx="292104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Σύνδεση με ασφαλιστικούς φορείς και έλεγχος αλλεργιών κατά τη χορήγηση φαρμακευτικής αγωγής.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ΑΝΑΛΥΣΗ ΑΠΑΙΤΗΣΕΩΝ</a:t>
            </a:r>
            <a:endParaRPr b="1" i="0" sz="1400" u="none" cap="none" strike="noStrik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0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6334125" y="259080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Multi-Tier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6334125" y="296227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Frontend: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React &amp; TypeScript με Vite για ταχεία απόκριση.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6334125" y="3427065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Backend: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Python &amp; Flask Framework για τη διαχείριση του REST API.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6334125" y="416614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Database: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MySQL Server για το σχεσιακό μοντέλο.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6334125" y="463093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Containerization: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Πλήρης υλοποίηση σε Docker Compose.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ΑΡΧΙΤΕΚΤΟΝΙΚΗ ΣΥΣΤΗΜΑΤΟΣ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tGPT Image Jun 16, 2026, 05_09_38 PM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4725" y="1624000"/>
            <a:ext cx="4419600" cy="4438800"/>
          </a:xfrm>
          <a:prstGeom prst="roundRect">
            <a:avLst>
              <a:gd fmla="val 2948" name="adj"/>
            </a:avLst>
          </a:prstGeom>
          <a:noFill/>
          <a:ln cap="flat" cmpd="sng" w="9525">
            <a:solidFill>
              <a:srgbClr val="CFD7E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0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0" y="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71500" y="2109787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Το μοντέλο δεδομένων αποτελείται από </a:t>
            </a:r>
            <a:r>
              <a:rPr b="1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21 πίνακες</a:t>
            </a: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, με κεντρικό άξονα την οντότητα του Ασθενούς.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1000125" y="2829817"/>
            <a:ext cx="4857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Συσχετίσεις 1:N και M:N για ιατρούς, φάρμακα και εξετάσεις.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914400" y="3296542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Database Triggers για επιχειρησιακούς κανόνες (π.χ. έλεγχος αλλεργιών).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971550" y="4035623"/>
            <a:ext cx="48863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MySQL Views για συγκεντρωτική προβολή ιστορικού.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6791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3464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73723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ΣΧΕΔΙΑΣΜΟΣ ΒΑΣΗΣ (ER DIAGRAM)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83225" y="1641988"/>
            <a:ext cx="5674800" cy="3857700"/>
          </a:xfrm>
          <a:prstGeom prst="roundRect">
            <a:avLst>
              <a:gd fmla="val 3256" name="adj"/>
            </a:avLst>
          </a:prstGeom>
          <a:noFill/>
          <a:ln cap="flat" cmpd="sng" w="9525">
            <a:solidFill>
              <a:srgbClr val="CFD7E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0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5527"/>
            <a:ext cx="3492549" cy="2575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55527"/>
            <a:ext cx="3492549" cy="2575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55527"/>
            <a:ext cx="3492549" cy="257547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857250" y="3117502"/>
            <a:ext cx="3067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PatientList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857250" y="3508027"/>
            <a:ext cx="292104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Λίστα ασθενών με δυνατότητα φιλτραρίσματος βάσει ΑΜΚΑ ή ονόματος σε πραγματικό χρόνο.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9" name="Google Shape;17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5549" y="288890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4635549" y="3460402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HealthFileView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4635549" y="3850927"/>
            <a:ext cx="292104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Οργανωμένες καρτέλες (Tabs) για Διαγνώσεις, Επισκέψεις, Συνταγές και Εξετάσεις.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2" name="Google Shape;18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3849" y="288890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8413849" y="3460402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AddPatient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8413849" y="3850927"/>
            <a:ext cx="292104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Δυναμική φόρμα καταχώρησης νέου ασθενούς με επικύρωση (validation) των πεδίων.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ΥΛΟΠΟΙΗΣΗ ΔΙΕΠΑΦΗΣ ΧΡΗΣΤΗ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0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6334125" y="20335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Διαγνώσεις &amp; Συνταγές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6334125" y="2424112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Το σύστημα παρέχει εξειδικευμένα εργαλεία για τον κλινικό ιατρό: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6334125" y="2869852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ICD-10 Integration: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Καταγραφή παθήσεων με διεθνή κωδικοποίηση.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6334125" y="3608933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Prescription Engine: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Επιλογή φαρμάκου, δοσολογίας και διάρκειας.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6334125" y="4348013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Allergy Alert: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Αυτόματη ειδοποίηση εάν το φάρμακο περιέχει δραστική ουσία στην οποία ο ασθενής είναι αλλεργικός.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ΚΛΙΝΙΚΗ ΡΟΗ ΕΡΓΑΣΙΩΝ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20"/>
          <p:cNvPicPr preferRelativeResize="0"/>
          <p:nvPr/>
        </p:nvPicPr>
        <p:blipFill rotWithShape="1">
          <a:blip r:embed="rId4">
            <a:alphaModFix/>
          </a:blip>
          <a:srcRect b="0" l="23575" r="24738" t="0"/>
          <a:stretch/>
        </p:blipFill>
        <p:spPr>
          <a:xfrm>
            <a:off x="1517275" y="1184775"/>
            <a:ext cx="3098100" cy="2682900"/>
          </a:xfrm>
          <a:prstGeom prst="roundRect">
            <a:avLst>
              <a:gd fmla="val 2669" name="adj"/>
            </a:avLst>
          </a:prstGeom>
          <a:noFill/>
          <a:ln cap="flat" cmpd="sng" w="9525">
            <a:solidFill>
              <a:srgbClr val="CFD7E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4080000" dist="19050">
              <a:srgbClr val="000000">
                <a:alpha val="50000"/>
              </a:srgbClr>
            </a:outerShdw>
          </a:effectLst>
        </p:spPr>
      </p:pic>
      <p:pic>
        <p:nvPicPr>
          <p:cNvPr descr="image5.png" id="200" name="Google Shape;200;p20"/>
          <p:cNvPicPr preferRelativeResize="0"/>
          <p:nvPr/>
        </p:nvPicPr>
        <p:blipFill rotWithShape="1">
          <a:blip r:embed="rId5">
            <a:alphaModFix/>
          </a:blip>
          <a:srcRect b="19113" l="24383" r="22918" t="0"/>
          <a:stretch/>
        </p:blipFill>
        <p:spPr>
          <a:xfrm>
            <a:off x="988225" y="3948100"/>
            <a:ext cx="4156200" cy="2532900"/>
          </a:xfrm>
          <a:prstGeom prst="roundRect">
            <a:avLst>
              <a:gd fmla="val 4140" name="adj"/>
            </a:avLst>
          </a:prstGeom>
          <a:noFill/>
          <a:ln cap="flat" cmpd="sng" w="9525">
            <a:solidFill>
              <a:srgbClr val="CFD7E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408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0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9292"/>
            <a:ext cx="3492549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39292"/>
            <a:ext cx="3492549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39292"/>
            <a:ext cx="3492549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571500" y="480149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Η χρήση της βιβλιοθήκης Python Faker επέτρεψε την αυτόματη δημιουργία χιλιάδων ρεαλιστικών δοκιμαστικών δεδομένων.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952500" y="2820292"/>
            <a:ext cx="2730549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0" i="0" lang="en-US" sz="7500" u="none" cap="none" strike="noStrike">
                <a:solidFill>
                  <a:srgbClr val="002D62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952500" y="3772792"/>
            <a:ext cx="27305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Πίνακες Βάσης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730799" y="2820292"/>
            <a:ext cx="2730549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0" i="0" lang="en-US" sz="7500" u="none" cap="none" strike="noStrike">
                <a:solidFill>
                  <a:srgbClr val="002D62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730799" y="3772792"/>
            <a:ext cx="27305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Επίπεδα Αρχιτεκτονικής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8509099" y="2820292"/>
            <a:ext cx="2730549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0" i="0" lang="en-US" sz="7500" u="none" cap="none" strike="noStrike">
                <a:solidFill>
                  <a:srgbClr val="002D62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8509099" y="3772792"/>
            <a:ext cx="27305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Dockerized Setup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ΜΕΤΡΙΚΕΣ &amp; ΑΠΟΤΕΛΕΣΜΑΤΑ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2"/>
          <p:cNvPicPr preferRelativeResize="0"/>
          <p:nvPr/>
        </p:nvPicPr>
        <p:blipFill rotWithShape="1">
          <a:blip r:embed="rId3">
            <a:alphaModFix/>
          </a:blip>
          <a:srcRect b="0" l="-180" r="18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/>
          <p:nvPr/>
        </p:nvSpPr>
        <p:spPr>
          <a:xfrm>
            <a:off x="571500" y="2752725"/>
            <a:ext cx="11049000" cy="23717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4" name="Google Shape;224;p22"/>
          <p:cNvGraphicFramePr/>
          <p:nvPr/>
        </p:nvGraphicFramePr>
        <p:xfrm>
          <a:off x="571500" y="27527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{8C9ADFFE-A0AB-4F61-8BB3-D5F0C4260196}</a:tableStyleId>
              </a:tblPr>
              <a:tblGrid>
                <a:gridCol w="3528275"/>
                <a:gridCol w="3577975"/>
                <a:gridCol w="3942750"/>
              </a:tblGrid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Χαρακτηριστικό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Έντυπος Φάκελος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Πρωτότυπο ΗΦΥ (EHR)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Αναζήτηση Πληροφορίας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Χρονοβόρα (Χειροκίνητη)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Στιγμιαία (Αναζήτηση DB)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Ακεραιότητα Δεδομένων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Χαμηλή (Φυσική φθορά)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Υψηλή (Constraints/Triggers)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Διαλειτουργικότητα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Μηδενική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Υψηλή (HL7 FHIR Principles)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Ασφάλεια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Δύσκολα Ελεγχόμενη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Role-Based (Μελλοντική)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" name="Google Shape;225;p22"/>
          <p:cNvSpPr/>
          <p:nvPr/>
        </p:nvSpPr>
        <p:spPr>
          <a:xfrm>
            <a:off x="571500" y="3681412"/>
            <a:ext cx="352826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4099768" y="3681412"/>
            <a:ext cx="357797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7677745" y="3681412"/>
            <a:ext cx="394275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71500" y="4157662"/>
            <a:ext cx="352826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4099768" y="4157662"/>
            <a:ext cx="357797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7677745" y="4157662"/>
            <a:ext cx="394275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571500" y="4633912"/>
            <a:ext cx="352826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4099768" y="4633912"/>
            <a:ext cx="357797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7677745" y="4633912"/>
            <a:ext cx="394275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571500" y="5110162"/>
            <a:ext cx="352826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4099768" y="5110162"/>
            <a:ext cx="357797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7677745" y="5110162"/>
            <a:ext cx="394275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ΣΥΓΚΡΙΣΗ ΜΕ ΠΑΡΑΔΟΣΙΑΚΑ ΣΥΣΤΗΜΑΤΑ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0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4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48979"/>
            <a:ext cx="11049000" cy="258871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/>
          <p:nvPr/>
        </p:nvSpPr>
        <p:spPr>
          <a:xfrm>
            <a:off x="571500" y="2548979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Επόμενα Βήματα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914400" y="2920454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Αυθεντικοποίηση: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Υλοποίηση ελέγχου πρόσβασης βάσει ρόλων (RBAC).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942975" y="3659534"/>
            <a:ext cx="4914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Document Management: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Αποθήκευση απεικονιστικών εξετάσεων και αρχείων PDF.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1000125" y="4398615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External APIs: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Διασύνδεση με την Ηλεκτρονική Συνταγογράφηση (IDIKA).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9" name="Google Shape;24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5855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9763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36715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2D62"/>
                </a:solidFill>
                <a:latin typeface="Merriweather"/>
                <a:ea typeface="Merriweather"/>
                <a:cs typeface="Merriweather"/>
                <a:sym typeface="Merriweather"/>
              </a:rPr>
              <a:t>ΜΕΛΛΟΝΤΙΚΕΣ ΕΠΕΚΤΑΣΕΙΣ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62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/>
        </p:nvSpPr>
        <p:spPr>
          <a:xfrm>
            <a:off x="1486775" y="1319250"/>
            <a:ext cx="94755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Σας ευχαριστούμε για </a:t>
            </a:r>
            <a:endParaRPr b="1" i="0" sz="4800" u="none" cap="none" strike="noStrike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την προσοχή σας!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4"/>
          <p:cNvSpPr txBox="1"/>
          <p:nvPr/>
        </p:nvSpPr>
        <p:spPr>
          <a:xfrm>
            <a:off x="571500" y="4438650"/>
            <a:ext cx="11049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ΕΘΝΙΚΟ ΜΕΤΣΟΒΙΟ ΠΟΛΥΤΕΧΝΕΙΟ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Σχολή Ηλεκτρολόγων Μηχανικών &amp; Μηχανικών Υπολογιστών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Εργαστήριο Βιοϊατρικής Τεχνολογίας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rforos" id="261" name="Google Shape;26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8800" y="3155888"/>
            <a:ext cx="914400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