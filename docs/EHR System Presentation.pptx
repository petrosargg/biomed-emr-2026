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6858000" cx="12192000"/>
  <p:notesSz cx="6858000" cy="9144000"/>
  <p:embeddedFontLst>
    <p:embeddedFont>
      <p:font typeface="Roboto ExtraBold"/>
      <p:bold r:id="rId19"/>
      <p:boldItalic r:id="rId20"/>
    </p:embeddedFont>
    <p:embeddedFont>
      <p:font typeface="Roboto"/>
      <p:regular r:id="rId21"/>
      <p:bold r:id="rId22"/>
      <p:italic r:id="rId23"/>
      <p:boldItalic r:id="rId24"/>
    </p:embeddedFont>
    <p:embeddedFont>
      <p:font typeface="Merriweather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928B003-B83E-4D34-8D74-4A5DA3F2BC48}">
  <a:tblStyle styleId="{8928B003-B83E-4D34-8D74-4A5DA3F2BC48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ExtraBold-boldItalic.fntdata"/><Relationship Id="rId22" Type="http://schemas.openxmlformats.org/officeDocument/2006/relationships/font" Target="fonts/Roboto-bold.fntdata"/><Relationship Id="rId21" Type="http://schemas.openxmlformats.org/officeDocument/2006/relationships/font" Target="fonts/Roboto-regular.fntdata"/><Relationship Id="rId24" Type="http://schemas.openxmlformats.org/officeDocument/2006/relationships/font" Target="fonts/Roboto-boldItalic.fntdata"/><Relationship Id="rId23" Type="http://schemas.openxmlformats.org/officeDocument/2006/relationships/font" Target="fonts/Robot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Merriweather-bold.fntdata"/><Relationship Id="rId25" Type="http://schemas.openxmlformats.org/officeDocument/2006/relationships/font" Target="fonts/Merriweather-regular.fntdata"/><Relationship Id="rId28" Type="http://schemas.openxmlformats.org/officeDocument/2006/relationships/font" Target="fonts/Merriweather-boldItalic.fntdata"/><Relationship Id="rId27" Type="http://schemas.openxmlformats.org/officeDocument/2006/relationships/font" Target="fonts/Merriweather-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font" Target="fonts/RobotoExtraBold-bold.fntdata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8.png"/><Relationship Id="rId4" Type="http://schemas.openxmlformats.org/officeDocument/2006/relationships/image" Target="../media/image15.png"/><Relationship Id="rId5" Type="http://schemas.openxmlformats.org/officeDocument/2006/relationships/image" Target="../media/image3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8.png"/><Relationship Id="rId4" Type="http://schemas.openxmlformats.org/officeDocument/2006/relationships/image" Target="../media/image8.png"/><Relationship Id="rId5" Type="http://schemas.openxmlformats.org/officeDocument/2006/relationships/image" Target="../media/image26.png"/><Relationship Id="rId6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8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5" Type="http://schemas.openxmlformats.org/officeDocument/2006/relationships/image" Target="../media/image7.png"/><Relationship Id="rId6" Type="http://schemas.openxmlformats.org/officeDocument/2006/relationships/image" Target="../media/image1.png"/><Relationship Id="rId7" Type="http://schemas.openxmlformats.org/officeDocument/2006/relationships/image" Target="../media/image3.png"/><Relationship Id="rId8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png"/><Relationship Id="rId4" Type="http://schemas.openxmlformats.org/officeDocument/2006/relationships/image" Target="../media/image1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1.png"/><Relationship Id="rId7" Type="http://schemas.openxmlformats.org/officeDocument/2006/relationships/image" Target="../media/image1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Relationship Id="rId4" Type="http://schemas.openxmlformats.org/officeDocument/2006/relationships/image" Target="../media/image17.png"/><Relationship Id="rId5" Type="http://schemas.openxmlformats.org/officeDocument/2006/relationships/image" Target="../media/image21.png"/><Relationship Id="rId6" Type="http://schemas.openxmlformats.org/officeDocument/2006/relationships/image" Target="../media/image14.png"/><Relationship Id="rId7" Type="http://schemas.openxmlformats.org/officeDocument/2006/relationships/image" Target="../media/image33.png"/><Relationship Id="rId8" Type="http://schemas.openxmlformats.org/officeDocument/2006/relationships/image" Target="../media/image1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8.png"/><Relationship Id="rId4" Type="http://schemas.openxmlformats.org/officeDocument/2006/relationships/image" Target="../media/image27.png"/><Relationship Id="rId5" Type="http://schemas.openxmlformats.org/officeDocument/2006/relationships/image" Target="../media/image3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Relationship Id="rId4" Type="http://schemas.openxmlformats.org/officeDocument/2006/relationships/image" Target="../media/image25.png"/><Relationship Id="rId5" Type="http://schemas.openxmlformats.org/officeDocument/2006/relationships/image" Target="../media/image20.png"/><Relationship Id="rId6" Type="http://schemas.openxmlformats.org/officeDocument/2006/relationships/image" Target="../media/image2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png"/><Relationship Id="rId4" Type="http://schemas.openxmlformats.org/officeDocument/2006/relationships/image" Target="../media/image29.png"/><Relationship Id="rId5" Type="http://schemas.openxmlformats.org/officeDocument/2006/relationships/image" Target="../media/image24.png"/><Relationship Id="rId6" Type="http://schemas.openxmlformats.org/officeDocument/2006/relationships/image" Target="../media/image34.png"/><Relationship Id="rId7" Type="http://schemas.openxmlformats.org/officeDocument/2006/relationships/image" Target="../media/image2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8.png"/><Relationship Id="rId4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0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571500"/>
            <a:ext cx="11049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715327" y="1438275"/>
            <a:ext cx="10761300" cy="10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90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Σχεδιασμός και Ανάπτυξη ενός Πρωτότυπου Συστήματος Ηλεκτρονικού Φακέλου Υγείας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971550" y="2718196"/>
            <a:ext cx="102489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67E22"/>
                </a:solidFill>
                <a:latin typeface="Roboto"/>
                <a:ea typeface="Roboto"/>
                <a:cs typeface="Roboto"/>
                <a:sym typeface="Roboto"/>
              </a:rPr>
              <a:t>Εργαστήριο Βιοϊατρικής Τεχνολογίας | Μάρτιος 202</a:t>
            </a:r>
            <a:r>
              <a:rPr b="1" lang="en-US" sz="1800">
                <a:solidFill>
                  <a:srgbClr val="E67E22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971550" y="5679396"/>
            <a:ext cx="102489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Διδάσκοντες: Γ. Ματσόπουλος, Κ. Νικήτα, Ο. Πετροπούλου, Ν. Μωραΐτης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971550" y="3365896"/>
            <a:ext cx="33528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F2937"/>
                </a:solidFill>
                <a:latin typeface="Roboto"/>
                <a:ea typeface="Roboto"/>
                <a:cs typeface="Roboto"/>
                <a:sym typeface="Roboto"/>
              </a:rPr>
              <a:t>Κ. Διαμαντάκος (03120832)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4419600" y="3365896"/>
            <a:ext cx="33528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F2937"/>
                </a:solidFill>
                <a:latin typeface="Roboto"/>
                <a:ea typeface="Roboto"/>
                <a:cs typeface="Roboto"/>
                <a:sym typeface="Roboto"/>
              </a:rPr>
              <a:t>Ι. Ευ. Παππά (03122060)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7867650" y="3365896"/>
            <a:ext cx="3352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F2937"/>
                </a:solidFill>
                <a:latin typeface="Roboto"/>
                <a:ea typeface="Roboto"/>
                <a:cs typeface="Roboto"/>
                <a:sym typeface="Roboto"/>
              </a:rPr>
              <a:t>Χ. Ει. Γ</a:t>
            </a:r>
            <a:r>
              <a:rPr lang="en-US" sz="1200">
                <a:solidFill>
                  <a:srgbClr val="1F2937"/>
                </a:solidFill>
                <a:latin typeface="Roboto"/>
                <a:ea typeface="Roboto"/>
                <a:cs typeface="Roboto"/>
                <a:sym typeface="Roboto"/>
              </a:rPr>
              <a:t>ιαλενίδη</a:t>
            </a:r>
            <a:r>
              <a:rPr b="0" i="0" lang="en-US" sz="1200" u="none" cap="none" strike="noStrike">
                <a:solidFill>
                  <a:srgbClr val="1F2937"/>
                </a:solidFill>
                <a:latin typeface="Roboto"/>
                <a:ea typeface="Roboto"/>
                <a:cs typeface="Roboto"/>
                <a:sym typeface="Roboto"/>
              </a:rPr>
              <a:t> Μανιά (03123881)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971550" y="3642121"/>
            <a:ext cx="33528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F2937"/>
                </a:solidFill>
                <a:latin typeface="Roboto"/>
                <a:ea typeface="Roboto"/>
                <a:cs typeface="Roboto"/>
                <a:sym typeface="Roboto"/>
              </a:rPr>
              <a:t>Π. Αργύρης (03122805)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4419600" y="3642121"/>
            <a:ext cx="33528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F2937"/>
                </a:solidFill>
                <a:latin typeface="Roboto"/>
                <a:ea typeface="Roboto"/>
                <a:cs typeface="Roboto"/>
                <a:sym typeface="Roboto"/>
              </a:rPr>
              <a:t>Χ. Σκαλούμπακας (03122853)</a:t>
            </a:r>
            <a:endParaRPr/>
          </a:p>
        </p:txBody>
      </p:sp>
      <p:pic>
        <p:nvPicPr>
          <p:cNvPr descr="purforos" id="94" name="Google Shape;94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38800" y="4074363"/>
            <a:ext cx="914400" cy="923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0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9" name="Google Shape;99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94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0" name="Google Shape;100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1938337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4"/>
          <p:cNvSpPr txBox="1"/>
          <p:nvPr/>
        </p:nvSpPr>
        <p:spPr>
          <a:xfrm>
            <a:off x="571500" y="1938337"/>
            <a:ext cx="5550693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Ψηφιακός Μετασχηματισμός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571500" y="2328862"/>
            <a:ext cx="5286375" cy="82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Η εργασία πραγματεύεται τη μετάβαση από τους παραδοσιακούς έντυπους φακέλους σε ένα </a:t>
            </a:r>
            <a:r>
              <a:rPr b="1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ολοκληρωμένο ψηφιακό περιβάλλον</a:t>
            </a: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 διαχείρισης ιατρικής πληροφορίας.</a:t>
            </a:r>
            <a:endParaRPr/>
          </a:p>
        </p:txBody>
      </p:sp>
      <p:pic>
        <p:nvPicPr>
          <p:cNvPr descr="image.png" id="103" name="Google Shape;103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43650" y="1947862"/>
            <a:ext cx="5267325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4"/>
          <p:cNvSpPr txBox="1"/>
          <p:nvPr/>
        </p:nvSpPr>
        <p:spPr>
          <a:xfrm>
            <a:off x="942975" y="3323183"/>
            <a:ext cx="491490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Κεντρική αποθήκευση ιατρικών δεδομένων.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942975" y="3789908"/>
            <a:ext cx="491490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Άμεση πρόσβαση στο ιστορικό ασθενούς.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942975" y="4256633"/>
            <a:ext cx="491490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Μείωση σφαλμάτων και απώλειας δεδομένων.</a:t>
            </a:r>
            <a:endParaRPr/>
          </a:p>
        </p:txBody>
      </p:sp>
      <p:pic>
        <p:nvPicPr>
          <p:cNvPr descr="image.png" id="107" name="Google Shape;107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3361283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8" name="Google Shape;108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3828008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9" name="Google Shape;109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294733"/>
            <a:ext cx="22860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4"/>
          <p:cNvSpPr txBox="1"/>
          <p:nvPr/>
        </p:nvSpPr>
        <p:spPr>
          <a:xfrm>
            <a:off x="762000" y="571500"/>
            <a:ext cx="114015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ΕΙΣΑΓΩΓ</a:t>
            </a:r>
            <a:r>
              <a:rPr b="1" lang="en-US" sz="2850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Η</a:t>
            </a: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 &amp; ΣΚΟΠ</a:t>
            </a:r>
            <a:r>
              <a:rPr b="1" lang="en-US" sz="2850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Ο</a:t>
            </a: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Σ</a:t>
            </a:r>
            <a:endParaRPr/>
          </a:p>
        </p:txBody>
      </p:sp>
      <p:sp>
        <p:nvSpPr>
          <p:cNvPr id="111" name="Google Shape;111;p14"/>
          <p:cNvSpPr/>
          <p:nvPr/>
        </p:nvSpPr>
        <p:spPr>
          <a:xfrm>
            <a:off x="571500" y="571500"/>
            <a:ext cx="76200" cy="4476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0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6" name="Google Shape;11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5"/>
          <p:cNvSpPr txBox="1"/>
          <p:nvPr/>
        </p:nvSpPr>
        <p:spPr>
          <a:xfrm>
            <a:off x="571500" y="762000"/>
            <a:ext cx="52008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ΠΡ</a:t>
            </a:r>
            <a:r>
              <a:rPr b="1" lang="en-US" sz="2850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Ο</a:t>
            </a: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ΤΥΠΑ HL7 &amp; FHIR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571500" y="1590675"/>
            <a:ext cx="52006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Διαλειτουργικότητα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571500" y="1981200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Το σύστημα ακολουθεί τις αρχές των διεθνών προτύπων </a:t>
            </a:r>
            <a:r>
              <a:rPr b="1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HL7 FHIR</a:t>
            </a: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, οργανώνοντας την πληροφορία σε διακριτά "Resources".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571500" y="2872680"/>
            <a:ext cx="4953000" cy="82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Αυτό επιτρέπει τη μελλοντική επικοινωνία με εξωτερικά συστήματα (νοσοκομεία, εργαστήρια) μέσω τυποποιημένων δομών δεδομένων για Ασθενείς, Διαγνώσεις και Συνταγές.</a:t>
            </a:r>
            <a:endParaRPr/>
          </a:p>
        </p:txBody>
      </p:sp>
      <p:pic>
        <p:nvPicPr>
          <p:cNvPr descr="image.png" id="121" name="Google Shape;121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0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6" name="Google Shape;12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418457"/>
            <a:ext cx="3492549" cy="28497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418457"/>
            <a:ext cx="3492549" cy="28497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9" name="Google Shape;129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418457"/>
            <a:ext cx="3492549" cy="28497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0" name="Google Shape;130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57250" y="2751832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6"/>
          <p:cNvSpPr txBox="1"/>
          <p:nvPr/>
        </p:nvSpPr>
        <p:spPr>
          <a:xfrm>
            <a:off x="857250" y="3323332"/>
            <a:ext cx="3067102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Λειτουργικές</a:t>
            </a:r>
            <a:endParaRPr/>
          </a:p>
        </p:txBody>
      </p:sp>
      <p:sp>
        <p:nvSpPr>
          <p:cNvPr id="132" name="Google Shape;132;p16"/>
          <p:cNvSpPr txBox="1"/>
          <p:nvPr/>
        </p:nvSpPr>
        <p:spPr>
          <a:xfrm>
            <a:off x="857250" y="3713857"/>
            <a:ext cx="2921049" cy="109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Διαχείριση στοιχείων ασθενών, καταγραφή διαγνώσεων (ICD-10), ηλεκτρονική συνταγογράφηση και παρακολούθηση νοσηλειών.</a:t>
            </a:r>
            <a:endParaRPr/>
          </a:p>
        </p:txBody>
      </p:sp>
      <p:pic>
        <p:nvPicPr>
          <p:cNvPr descr="image.png" id="133" name="Google Shape;133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35549" y="2751832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6"/>
          <p:cNvSpPr txBox="1"/>
          <p:nvPr/>
        </p:nvSpPr>
        <p:spPr>
          <a:xfrm>
            <a:off x="4635549" y="3323332"/>
            <a:ext cx="3067102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Μη Λειτουργικές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4635549" y="3713857"/>
            <a:ext cx="2921049" cy="109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Ακεραιότητα δεδομένων μέσω PK/FK, υψηλή αξιοπιστία, ευχρηστία διεπαφής και επεκτασιμότητα αρχιτεκτονικής.</a:t>
            </a:r>
            <a:endParaRPr/>
          </a:p>
        </p:txBody>
      </p:sp>
      <p:pic>
        <p:nvPicPr>
          <p:cNvPr descr="image.png" id="136" name="Google Shape;136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13849" y="275183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6"/>
          <p:cNvSpPr txBox="1"/>
          <p:nvPr/>
        </p:nvSpPr>
        <p:spPr>
          <a:xfrm>
            <a:off x="8413849" y="3323332"/>
            <a:ext cx="3067102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Δεδομένα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8413849" y="3713857"/>
            <a:ext cx="2921049" cy="82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Σύνδεση με ασφαλιστικούς φορείς και έλεγχος αλλεργιών κατά τη χορήγηση φαρμακευτικής αγωγής.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762000" y="571500"/>
            <a:ext cx="114015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ΑΝ</a:t>
            </a:r>
            <a:r>
              <a:rPr b="1" lang="en-US" sz="2850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Α</a:t>
            </a: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ΛΥΣΗ </a:t>
            </a: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ΑΠΑΙΤ</a:t>
            </a:r>
            <a:r>
              <a:rPr b="1" lang="en-US" sz="2850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Η</a:t>
            </a: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ΣΕΩΝ</a:t>
            </a:r>
            <a:endParaRPr b="1"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40" name="Google Shape;140;p16"/>
          <p:cNvSpPr/>
          <p:nvPr/>
        </p:nvSpPr>
        <p:spPr>
          <a:xfrm>
            <a:off x="571500" y="571500"/>
            <a:ext cx="76200" cy="4476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0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5" name="Google Shape;14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7"/>
          <p:cNvSpPr txBox="1"/>
          <p:nvPr/>
        </p:nvSpPr>
        <p:spPr>
          <a:xfrm>
            <a:off x="6334125" y="2590800"/>
            <a:ext cx="5550693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Multi-Tier Model</a:t>
            </a:r>
            <a:endParaRPr/>
          </a:p>
        </p:txBody>
      </p:sp>
      <p:sp>
        <p:nvSpPr>
          <p:cNvPr id="147" name="Google Shape;147;p17"/>
          <p:cNvSpPr txBox="1"/>
          <p:nvPr/>
        </p:nvSpPr>
        <p:spPr>
          <a:xfrm>
            <a:off x="6334125" y="2962275"/>
            <a:ext cx="5286375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Frontend:</a:t>
            </a: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 React &amp; TypeScript με Vite για ταχεία απόκριση.</a:t>
            </a: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6334125" y="3427065"/>
            <a:ext cx="5286375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Backend:</a:t>
            </a: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 Python &amp; Flask Framework για τη διαχείριση του REST API.</a:t>
            </a:r>
            <a:endParaRPr/>
          </a:p>
        </p:txBody>
      </p:sp>
      <p:sp>
        <p:nvSpPr>
          <p:cNvPr id="149" name="Google Shape;149;p17"/>
          <p:cNvSpPr txBox="1"/>
          <p:nvPr/>
        </p:nvSpPr>
        <p:spPr>
          <a:xfrm>
            <a:off x="6334125" y="4166145"/>
            <a:ext cx="5286375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Database:</a:t>
            </a: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 MySQL Server για το σχεσιακό μοντέλο.</a:t>
            </a:r>
            <a:endParaRPr/>
          </a:p>
        </p:txBody>
      </p:sp>
      <p:sp>
        <p:nvSpPr>
          <p:cNvPr id="150" name="Google Shape;150;p17"/>
          <p:cNvSpPr txBox="1"/>
          <p:nvPr/>
        </p:nvSpPr>
        <p:spPr>
          <a:xfrm>
            <a:off x="6334125" y="4630935"/>
            <a:ext cx="5286375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Containerization:</a:t>
            </a: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 Πλήρης υλοποίηση σε Docker Compose.</a:t>
            </a:r>
            <a:endParaRPr/>
          </a:p>
        </p:txBody>
      </p:sp>
      <p:sp>
        <p:nvSpPr>
          <p:cNvPr id="151" name="Google Shape;151;p17"/>
          <p:cNvSpPr txBox="1"/>
          <p:nvPr/>
        </p:nvSpPr>
        <p:spPr>
          <a:xfrm>
            <a:off x="762000" y="571500"/>
            <a:ext cx="114015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ΑΡΧΙΤΕΚΤΟΝΙΚ</a:t>
            </a:r>
            <a:r>
              <a:rPr b="1" lang="en-US" sz="2850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Η</a:t>
            </a: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 ΣΥΣΤ</a:t>
            </a:r>
            <a:r>
              <a:rPr b="1" lang="en-US" sz="2850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Η</a:t>
            </a: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ΜΑΤΟΣ</a:t>
            </a:r>
            <a:endParaRPr/>
          </a:p>
        </p:txBody>
      </p:sp>
      <p:sp>
        <p:nvSpPr>
          <p:cNvPr id="152" name="Google Shape;152;p17"/>
          <p:cNvSpPr/>
          <p:nvPr/>
        </p:nvSpPr>
        <p:spPr>
          <a:xfrm>
            <a:off x="571500" y="571500"/>
            <a:ext cx="76200" cy="4476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hatGPT Image Jun 16, 2026, 05_09_38 PM.png" id="153" name="Google Shape;153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4725" y="1624000"/>
            <a:ext cx="4419600" cy="4438800"/>
          </a:xfrm>
          <a:prstGeom prst="roundRect">
            <a:avLst>
              <a:gd fmla="val 3659" name="adj"/>
            </a:avLst>
          </a:prstGeom>
          <a:noFill/>
          <a:ln cap="flat" cmpd="sng" w="9525">
            <a:solidFill>
              <a:srgbClr val="CFD7E7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0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8" name="Google Shape;158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" y="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8"/>
          <p:cNvSpPr txBox="1"/>
          <p:nvPr/>
        </p:nvSpPr>
        <p:spPr>
          <a:xfrm>
            <a:off x="571500" y="2109787"/>
            <a:ext cx="5286375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Το μοντέλο δεδομένων αποτελείται από </a:t>
            </a:r>
            <a:r>
              <a:rPr b="1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21 πίνακες</a:t>
            </a: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, με κεντρικό άξονα την οντότητα του Ασθενούς.</a:t>
            </a:r>
            <a:endParaRPr/>
          </a:p>
        </p:txBody>
      </p:sp>
      <p:sp>
        <p:nvSpPr>
          <p:cNvPr id="160" name="Google Shape;160;p18"/>
          <p:cNvSpPr txBox="1"/>
          <p:nvPr/>
        </p:nvSpPr>
        <p:spPr>
          <a:xfrm>
            <a:off x="1000125" y="2829817"/>
            <a:ext cx="485775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Συσχετίσεις 1:N και M:N για ιατρούς, φάρμακα και εξετάσεις.</a:t>
            </a:r>
            <a:endParaRPr/>
          </a:p>
        </p:txBody>
      </p:sp>
      <p:sp>
        <p:nvSpPr>
          <p:cNvPr id="161" name="Google Shape;161;p18"/>
          <p:cNvSpPr txBox="1"/>
          <p:nvPr/>
        </p:nvSpPr>
        <p:spPr>
          <a:xfrm>
            <a:off x="914400" y="3296542"/>
            <a:ext cx="4943475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Database Triggers για επιχειρησιακούς κανόνες (π.χ. έλεγχος αλλεργιών).</a:t>
            </a:r>
            <a:endParaRPr/>
          </a:p>
        </p:txBody>
      </p:sp>
      <p:sp>
        <p:nvSpPr>
          <p:cNvPr id="162" name="Google Shape;162;p18"/>
          <p:cNvSpPr txBox="1"/>
          <p:nvPr/>
        </p:nvSpPr>
        <p:spPr>
          <a:xfrm>
            <a:off x="971550" y="4035623"/>
            <a:ext cx="488632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MySQL Views για συγκεντρωτική προβολή ιστορικού.</a:t>
            </a:r>
            <a:endParaRPr/>
          </a:p>
        </p:txBody>
      </p:sp>
      <p:pic>
        <p:nvPicPr>
          <p:cNvPr descr="image.png" id="163" name="Google Shape;163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867917"/>
            <a:ext cx="2857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4" name="Google Shape;164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334642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5" name="Google Shape;165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073723"/>
            <a:ext cx="257175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8"/>
          <p:cNvSpPr txBox="1"/>
          <p:nvPr/>
        </p:nvSpPr>
        <p:spPr>
          <a:xfrm>
            <a:off x="762000" y="571500"/>
            <a:ext cx="114015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ΣΧΕΔΙΑΣΜ</a:t>
            </a:r>
            <a:r>
              <a:rPr b="1" lang="en-US" sz="2850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Ο</a:t>
            </a: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Σ Β</a:t>
            </a:r>
            <a:r>
              <a:rPr b="1" lang="en-US" sz="2850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Α</a:t>
            </a: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ΣΗΣ (ER DIAGRAM)</a:t>
            </a:r>
            <a:endParaRPr/>
          </a:p>
        </p:txBody>
      </p:sp>
      <p:sp>
        <p:nvSpPr>
          <p:cNvPr id="167" name="Google Shape;167;p18"/>
          <p:cNvSpPr/>
          <p:nvPr/>
        </p:nvSpPr>
        <p:spPr>
          <a:xfrm>
            <a:off x="571500" y="571500"/>
            <a:ext cx="76200" cy="4476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8" name="Google Shape;168;p1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083225" y="1641988"/>
            <a:ext cx="5674800" cy="3857700"/>
          </a:xfrm>
          <a:prstGeom prst="roundRect">
            <a:avLst>
              <a:gd fmla="val 4711" name="adj"/>
            </a:avLst>
          </a:prstGeom>
          <a:noFill/>
          <a:ln cap="flat" cmpd="sng" w="9525">
            <a:solidFill>
              <a:srgbClr val="CFD7E7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0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3" name="Google Shape;17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7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4" name="Google Shape;174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555527"/>
            <a:ext cx="3492549" cy="257547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5" name="Google Shape;175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555527"/>
            <a:ext cx="3492549" cy="257547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6" name="Google Shape;176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555527"/>
            <a:ext cx="3492549" cy="257547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9"/>
          <p:cNvSpPr txBox="1"/>
          <p:nvPr/>
        </p:nvSpPr>
        <p:spPr>
          <a:xfrm>
            <a:off x="857250" y="3117502"/>
            <a:ext cx="3067200" cy="2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4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PatientList</a:t>
            </a:r>
            <a:endParaRPr/>
          </a:p>
        </p:txBody>
      </p:sp>
      <p:sp>
        <p:nvSpPr>
          <p:cNvPr id="178" name="Google Shape;178;p19"/>
          <p:cNvSpPr txBox="1"/>
          <p:nvPr/>
        </p:nvSpPr>
        <p:spPr>
          <a:xfrm>
            <a:off x="857250" y="3508027"/>
            <a:ext cx="2921049" cy="82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Λίστα ασθενών με δυνατότητα φιλτραρίσματος βάσει ΑΜΚΑ ή ονόματος σε πραγματικό χρόνο.</a:t>
            </a:r>
            <a:endParaRPr/>
          </a:p>
        </p:txBody>
      </p:sp>
      <p:pic>
        <p:nvPicPr>
          <p:cNvPr descr="image.png" id="179" name="Google Shape;179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35549" y="2888902"/>
            <a:ext cx="2857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19"/>
          <p:cNvSpPr txBox="1"/>
          <p:nvPr/>
        </p:nvSpPr>
        <p:spPr>
          <a:xfrm>
            <a:off x="4635549" y="3460402"/>
            <a:ext cx="3067102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HealthFileView</a:t>
            </a:r>
            <a:endParaRPr/>
          </a:p>
        </p:txBody>
      </p:sp>
      <p:sp>
        <p:nvSpPr>
          <p:cNvPr id="181" name="Google Shape;181;p19"/>
          <p:cNvSpPr txBox="1"/>
          <p:nvPr/>
        </p:nvSpPr>
        <p:spPr>
          <a:xfrm>
            <a:off x="4635549" y="3850927"/>
            <a:ext cx="2921049" cy="82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Οργανωμένες καρτέλες (Tabs) για Διαγνώσεις, Επισκέψεις, Συνταγές και Εξετάσεις.</a:t>
            </a:r>
            <a:endParaRPr/>
          </a:p>
        </p:txBody>
      </p:sp>
      <p:pic>
        <p:nvPicPr>
          <p:cNvPr descr="image.png" id="182" name="Google Shape;182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413849" y="288890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9"/>
          <p:cNvSpPr txBox="1"/>
          <p:nvPr/>
        </p:nvSpPr>
        <p:spPr>
          <a:xfrm>
            <a:off x="8413849" y="3460402"/>
            <a:ext cx="3067102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AddPatient</a:t>
            </a:r>
            <a:endParaRPr/>
          </a:p>
        </p:txBody>
      </p:sp>
      <p:sp>
        <p:nvSpPr>
          <p:cNvPr id="184" name="Google Shape;184;p19"/>
          <p:cNvSpPr txBox="1"/>
          <p:nvPr/>
        </p:nvSpPr>
        <p:spPr>
          <a:xfrm>
            <a:off x="8413849" y="3850927"/>
            <a:ext cx="2921049" cy="82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Δυναμική φόρμα καταχώρησης νέου ασθενούς με επικύρωση (validation) των πεδίων.</a:t>
            </a:r>
            <a:endParaRPr/>
          </a:p>
        </p:txBody>
      </p:sp>
      <p:sp>
        <p:nvSpPr>
          <p:cNvPr id="185" name="Google Shape;185;p19"/>
          <p:cNvSpPr txBox="1"/>
          <p:nvPr/>
        </p:nvSpPr>
        <p:spPr>
          <a:xfrm>
            <a:off x="762000" y="571500"/>
            <a:ext cx="114015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ΥΛΟΠΟ</a:t>
            </a:r>
            <a:r>
              <a:rPr b="1" lang="en-US" sz="2850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Ι</a:t>
            </a: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ΗΣΗ ΔΙΕΠΑΦ</a:t>
            </a:r>
            <a:r>
              <a:rPr b="1" lang="en-US" sz="2850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ΗΣ</a:t>
            </a: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 ΧΡ</a:t>
            </a:r>
            <a:r>
              <a:rPr b="1" lang="en-US" sz="2850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Η</a:t>
            </a: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ΣΤΗ</a:t>
            </a:r>
            <a:endParaRPr/>
          </a:p>
        </p:txBody>
      </p:sp>
      <p:sp>
        <p:nvSpPr>
          <p:cNvPr id="186" name="Google Shape;186;p19"/>
          <p:cNvSpPr/>
          <p:nvPr/>
        </p:nvSpPr>
        <p:spPr>
          <a:xfrm>
            <a:off x="571500" y="571500"/>
            <a:ext cx="76200" cy="4476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0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1" name="Google Shape;191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2" name="Google Shape;192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033587"/>
            <a:ext cx="5286375" cy="3619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3" name="Google Shape;193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2043112"/>
            <a:ext cx="5267325" cy="360045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0"/>
          <p:cNvSpPr txBox="1"/>
          <p:nvPr/>
        </p:nvSpPr>
        <p:spPr>
          <a:xfrm>
            <a:off x="6334125" y="2033587"/>
            <a:ext cx="5550693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Διαγνώσεις &amp; Συνταγές</a:t>
            </a:r>
            <a:endParaRPr/>
          </a:p>
        </p:txBody>
      </p:sp>
      <p:sp>
        <p:nvSpPr>
          <p:cNvPr id="195" name="Google Shape;195;p20"/>
          <p:cNvSpPr txBox="1"/>
          <p:nvPr/>
        </p:nvSpPr>
        <p:spPr>
          <a:xfrm>
            <a:off x="6334125" y="2424112"/>
            <a:ext cx="5286375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Το σύστημα παρέχει εξειδικευμένα εργαλεία για τον κλινικό ιατρό:</a:t>
            </a:r>
            <a:endParaRPr/>
          </a:p>
        </p:txBody>
      </p:sp>
      <p:sp>
        <p:nvSpPr>
          <p:cNvPr id="196" name="Google Shape;196;p20"/>
          <p:cNvSpPr txBox="1"/>
          <p:nvPr/>
        </p:nvSpPr>
        <p:spPr>
          <a:xfrm>
            <a:off x="6334125" y="2869852"/>
            <a:ext cx="5286375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ICD-10 Integration:</a:t>
            </a: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 Καταγραφή παθήσεων με διεθνή κωδικοποίηση.</a:t>
            </a:r>
            <a:endParaRPr/>
          </a:p>
        </p:txBody>
      </p:sp>
      <p:sp>
        <p:nvSpPr>
          <p:cNvPr id="197" name="Google Shape;197;p20"/>
          <p:cNvSpPr txBox="1"/>
          <p:nvPr/>
        </p:nvSpPr>
        <p:spPr>
          <a:xfrm>
            <a:off x="6334125" y="3608933"/>
            <a:ext cx="5286375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Prescription Engine:</a:t>
            </a: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 Επιλογή φαρμάκου, δοσολογίας και διάρκειας.</a:t>
            </a:r>
            <a:endParaRPr/>
          </a:p>
        </p:txBody>
      </p:sp>
      <p:sp>
        <p:nvSpPr>
          <p:cNvPr id="198" name="Google Shape;198;p20"/>
          <p:cNvSpPr txBox="1"/>
          <p:nvPr/>
        </p:nvSpPr>
        <p:spPr>
          <a:xfrm>
            <a:off x="6334125" y="4348013"/>
            <a:ext cx="5286375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Allergy Alert:</a:t>
            </a: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 Αυτόματη ειδοποίηση εάν το φάρμακο περιέχει δραστική ουσία στην οποία ο ασθενής είναι αλλεργικός.</a:t>
            </a:r>
            <a:endParaRPr/>
          </a:p>
        </p:txBody>
      </p:sp>
      <p:sp>
        <p:nvSpPr>
          <p:cNvPr id="199" name="Google Shape;199;p20"/>
          <p:cNvSpPr txBox="1"/>
          <p:nvPr/>
        </p:nvSpPr>
        <p:spPr>
          <a:xfrm>
            <a:off x="762000" y="571500"/>
            <a:ext cx="114015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ΚΛΙΝΙΚ</a:t>
            </a:r>
            <a:r>
              <a:rPr b="1" lang="en-US" sz="2850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Η</a:t>
            </a: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 ΡΟ</a:t>
            </a:r>
            <a:r>
              <a:rPr b="1" lang="en-US" sz="2850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Η</a:t>
            </a: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 ΕΡΓΑΣΙ</a:t>
            </a:r>
            <a:r>
              <a:rPr b="1" lang="en-US" sz="2850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Ω</a:t>
            </a: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Ν</a:t>
            </a:r>
            <a:endParaRPr/>
          </a:p>
        </p:txBody>
      </p:sp>
      <p:sp>
        <p:nvSpPr>
          <p:cNvPr id="200" name="Google Shape;200;p20"/>
          <p:cNvSpPr/>
          <p:nvPr/>
        </p:nvSpPr>
        <p:spPr>
          <a:xfrm>
            <a:off x="571500" y="571500"/>
            <a:ext cx="76200" cy="4476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0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5" name="Google Shape;205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6" name="Google Shape;206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439292"/>
            <a:ext cx="3492549" cy="1981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7" name="Google Shape;207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439292"/>
            <a:ext cx="3492549" cy="1981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8" name="Google Shape;208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439292"/>
            <a:ext cx="3492549" cy="1981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1"/>
          <p:cNvSpPr txBox="1"/>
          <p:nvPr/>
        </p:nvSpPr>
        <p:spPr>
          <a:xfrm>
            <a:off x="571500" y="4801492"/>
            <a:ext cx="110490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Η χρήση της βιβλιοθήκης Python Faker επέτρεψε την αυτόματη δημιουργία χιλιάδων ρεαλιστικών δοκιμαστικών δεδομένων.</a:t>
            </a:r>
            <a:endParaRPr/>
          </a:p>
        </p:txBody>
      </p:sp>
      <p:sp>
        <p:nvSpPr>
          <p:cNvPr id="210" name="Google Shape;210;p21"/>
          <p:cNvSpPr txBox="1"/>
          <p:nvPr/>
        </p:nvSpPr>
        <p:spPr>
          <a:xfrm>
            <a:off x="952500" y="2820292"/>
            <a:ext cx="2730549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0" u="none" cap="none" strike="noStrike">
                <a:solidFill>
                  <a:srgbClr val="002D62"/>
                </a:solidFill>
                <a:latin typeface="Roboto ExtraBold"/>
                <a:ea typeface="Roboto ExtraBold"/>
                <a:cs typeface="Roboto ExtraBold"/>
                <a:sym typeface="Roboto ExtraBold"/>
              </a:rPr>
              <a:t>21</a:t>
            </a:r>
            <a:endParaRPr/>
          </a:p>
        </p:txBody>
      </p:sp>
      <p:sp>
        <p:nvSpPr>
          <p:cNvPr id="211" name="Google Shape;211;p21"/>
          <p:cNvSpPr txBox="1"/>
          <p:nvPr/>
        </p:nvSpPr>
        <p:spPr>
          <a:xfrm>
            <a:off x="952500" y="3772792"/>
            <a:ext cx="2730549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Roboto"/>
                <a:ea typeface="Roboto"/>
                <a:cs typeface="Roboto"/>
                <a:sym typeface="Roboto"/>
              </a:rPr>
              <a:t>Πίνακες Βάσης</a:t>
            </a:r>
            <a:endParaRPr/>
          </a:p>
        </p:txBody>
      </p:sp>
      <p:sp>
        <p:nvSpPr>
          <p:cNvPr id="212" name="Google Shape;212;p21"/>
          <p:cNvSpPr txBox="1"/>
          <p:nvPr/>
        </p:nvSpPr>
        <p:spPr>
          <a:xfrm>
            <a:off x="4730799" y="2820292"/>
            <a:ext cx="2730549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0" u="none" cap="none" strike="noStrike">
                <a:solidFill>
                  <a:srgbClr val="002D62"/>
                </a:solidFill>
                <a:latin typeface="Roboto ExtraBold"/>
                <a:ea typeface="Roboto ExtraBold"/>
                <a:cs typeface="Roboto ExtraBold"/>
                <a:sym typeface="Roboto ExtraBold"/>
              </a:rPr>
              <a:t>3</a:t>
            </a:r>
            <a:endParaRPr/>
          </a:p>
        </p:txBody>
      </p:sp>
      <p:sp>
        <p:nvSpPr>
          <p:cNvPr id="213" name="Google Shape;213;p21"/>
          <p:cNvSpPr txBox="1"/>
          <p:nvPr/>
        </p:nvSpPr>
        <p:spPr>
          <a:xfrm>
            <a:off x="4730799" y="3772792"/>
            <a:ext cx="2730549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Roboto"/>
                <a:ea typeface="Roboto"/>
                <a:cs typeface="Roboto"/>
                <a:sym typeface="Roboto"/>
              </a:rPr>
              <a:t>Επίπεδα Αρχιτεκτονικής</a:t>
            </a:r>
            <a:endParaRPr/>
          </a:p>
        </p:txBody>
      </p:sp>
      <p:sp>
        <p:nvSpPr>
          <p:cNvPr id="214" name="Google Shape;214;p21"/>
          <p:cNvSpPr txBox="1"/>
          <p:nvPr/>
        </p:nvSpPr>
        <p:spPr>
          <a:xfrm>
            <a:off x="8509099" y="2820292"/>
            <a:ext cx="2730549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0" u="none" cap="none" strike="noStrike">
                <a:solidFill>
                  <a:srgbClr val="002D62"/>
                </a:solidFill>
                <a:latin typeface="Roboto ExtraBold"/>
                <a:ea typeface="Roboto ExtraBold"/>
                <a:cs typeface="Roboto ExtraBold"/>
                <a:sym typeface="Roboto ExtraBold"/>
              </a:rPr>
              <a:t>100%</a:t>
            </a:r>
            <a:endParaRPr/>
          </a:p>
        </p:txBody>
      </p:sp>
      <p:sp>
        <p:nvSpPr>
          <p:cNvPr id="215" name="Google Shape;215;p21"/>
          <p:cNvSpPr txBox="1"/>
          <p:nvPr/>
        </p:nvSpPr>
        <p:spPr>
          <a:xfrm>
            <a:off x="8509099" y="3772792"/>
            <a:ext cx="2730549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Roboto"/>
                <a:ea typeface="Roboto"/>
                <a:cs typeface="Roboto"/>
                <a:sym typeface="Roboto"/>
              </a:rPr>
              <a:t>Dockerized Setup</a:t>
            </a:r>
            <a:endParaRPr/>
          </a:p>
        </p:txBody>
      </p:sp>
      <p:sp>
        <p:nvSpPr>
          <p:cNvPr id="216" name="Google Shape;216;p21"/>
          <p:cNvSpPr txBox="1"/>
          <p:nvPr/>
        </p:nvSpPr>
        <p:spPr>
          <a:xfrm>
            <a:off x="762000" y="571500"/>
            <a:ext cx="114015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ΜΕΤΡΙΚ</a:t>
            </a:r>
            <a:r>
              <a:rPr b="1" lang="en-US" sz="2850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Ε</a:t>
            </a: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Σ &amp; ΑΠΟΤΕΛ</a:t>
            </a:r>
            <a:r>
              <a:rPr b="1" lang="en-US" sz="2850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Ε</a:t>
            </a: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ΣΜΑΤΑ</a:t>
            </a:r>
            <a:endParaRPr/>
          </a:p>
        </p:txBody>
      </p:sp>
      <p:sp>
        <p:nvSpPr>
          <p:cNvPr id="217" name="Google Shape;217;p21"/>
          <p:cNvSpPr/>
          <p:nvPr/>
        </p:nvSpPr>
        <p:spPr>
          <a:xfrm>
            <a:off x="571500" y="571500"/>
            <a:ext cx="76200" cy="4476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0"/>
        </a:solid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2" name="Google Shape;222;p22"/>
          <p:cNvPicPr preferRelativeResize="0"/>
          <p:nvPr/>
        </p:nvPicPr>
        <p:blipFill rotWithShape="1">
          <a:blip r:embed="rId3">
            <a:alphaModFix/>
          </a:blip>
          <a:srcRect b="0" l="-180" r="18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22"/>
          <p:cNvSpPr/>
          <p:nvPr/>
        </p:nvSpPr>
        <p:spPr>
          <a:xfrm>
            <a:off x="571500" y="2752725"/>
            <a:ext cx="11049000" cy="2371725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24" name="Google Shape;224;p22"/>
          <p:cNvGraphicFramePr/>
          <p:nvPr/>
        </p:nvGraphicFramePr>
        <p:xfrm>
          <a:off x="571500" y="275272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{8928B003-B83E-4D34-8D74-4A5DA3F2BC48}</a:tableStyleId>
              </a:tblPr>
              <a:tblGrid>
                <a:gridCol w="3528275"/>
                <a:gridCol w="3577975"/>
                <a:gridCol w="3942750"/>
              </a:tblGrid>
              <a:tr h="47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Χαρακτηριστικό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2D6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Έντυπος Φάκελος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2D6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Πρωτότυπο ΗΦΥ (EHR)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2D62"/>
                    </a:solidFill>
                  </a:tcPr>
                </a:tc>
              </a:tr>
              <a:tr h="47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1F293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Αναζήτηση Πληροφορίας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1F293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Χρονοβόρα (Χειροκίνητη)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1F293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Στιγμιαία (Αναζήτηση DB)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1F293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Ακεραιότητα Δεδομένων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1F293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Χαμηλή (Φυσική φθορά)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1F293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Υψηλή (Constraints/Triggers)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1F293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Διαλειτουργικότητα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1F293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Μηδενική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1F293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Υψηλή (HL7 FHIR Principles)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1F293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Ασφάλεια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1F293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Δύσκολα Ελεγχόμενη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1F293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Role-Based (Μελλοντική)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25" name="Google Shape;225;p22"/>
          <p:cNvSpPr/>
          <p:nvPr/>
        </p:nvSpPr>
        <p:spPr>
          <a:xfrm>
            <a:off x="571500" y="3681412"/>
            <a:ext cx="3528268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2"/>
          <p:cNvSpPr/>
          <p:nvPr/>
        </p:nvSpPr>
        <p:spPr>
          <a:xfrm>
            <a:off x="4099768" y="3681412"/>
            <a:ext cx="3577976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22"/>
          <p:cNvSpPr/>
          <p:nvPr/>
        </p:nvSpPr>
        <p:spPr>
          <a:xfrm>
            <a:off x="7677745" y="3681412"/>
            <a:ext cx="3942754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22"/>
          <p:cNvSpPr/>
          <p:nvPr/>
        </p:nvSpPr>
        <p:spPr>
          <a:xfrm>
            <a:off x="571500" y="4157662"/>
            <a:ext cx="3528268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2"/>
          <p:cNvSpPr/>
          <p:nvPr/>
        </p:nvSpPr>
        <p:spPr>
          <a:xfrm>
            <a:off x="4099768" y="4157662"/>
            <a:ext cx="3577976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2"/>
          <p:cNvSpPr/>
          <p:nvPr/>
        </p:nvSpPr>
        <p:spPr>
          <a:xfrm>
            <a:off x="7677745" y="4157662"/>
            <a:ext cx="3942754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2"/>
          <p:cNvSpPr/>
          <p:nvPr/>
        </p:nvSpPr>
        <p:spPr>
          <a:xfrm>
            <a:off x="571500" y="4633912"/>
            <a:ext cx="3528268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2"/>
          <p:cNvSpPr/>
          <p:nvPr/>
        </p:nvSpPr>
        <p:spPr>
          <a:xfrm>
            <a:off x="4099768" y="4633912"/>
            <a:ext cx="3577976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2"/>
          <p:cNvSpPr/>
          <p:nvPr/>
        </p:nvSpPr>
        <p:spPr>
          <a:xfrm>
            <a:off x="7677745" y="4633912"/>
            <a:ext cx="3942754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2"/>
          <p:cNvSpPr/>
          <p:nvPr/>
        </p:nvSpPr>
        <p:spPr>
          <a:xfrm>
            <a:off x="571500" y="5110162"/>
            <a:ext cx="3528268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2"/>
          <p:cNvSpPr/>
          <p:nvPr/>
        </p:nvSpPr>
        <p:spPr>
          <a:xfrm>
            <a:off x="4099768" y="5110162"/>
            <a:ext cx="3577976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2"/>
          <p:cNvSpPr/>
          <p:nvPr/>
        </p:nvSpPr>
        <p:spPr>
          <a:xfrm>
            <a:off x="7677745" y="5110162"/>
            <a:ext cx="3942754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2"/>
          <p:cNvSpPr txBox="1"/>
          <p:nvPr/>
        </p:nvSpPr>
        <p:spPr>
          <a:xfrm>
            <a:off x="762000" y="571500"/>
            <a:ext cx="114015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Σ</a:t>
            </a:r>
            <a:r>
              <a:rPr b="1" lang="en-US" sz="2850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Υ</a:t>
            </a: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ΓΚΡΙΣΗ</a:t>
            </a: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 ΜΕ ΠΑΡΑΔΟΣΙΑΚ</a:t>
            </a:r>
            <a:r>
              <a:rPr b="1" lang="en-US" sz="2850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Α</a:t>
            </a: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 ΣΥΣΤ</a:t>
            </a:r>
            <a:r>
              <a:rPr b="1" lang="en-US" sz="2850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Η</a:t>
            </a: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ΜΑΤΑ</a:t>
            </a:r>
            <a:endParaRPr/>
          </a:p>
        </p:txBody>
      </p:sp>
      <p:sp>
        <p:nvSpPr>
          <p:cNvPr id="238" name="Google Shape;238;p22"/>
          <p:cNvSpPr/>
          <p:nvPr/>
        </p:nvSpPr>
        <p:spPr>
          <a:xfrm>
            <a:off x="571500" y="571500"/>
            <a:ext cx="76200" cy="4476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0"/>
        </a:solidFill>
      </p:bgPr>
    </p:bg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3" name="Google Shape;243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94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4" name="Google Shape;244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548979"/>
            <a:ext cx="11049000" cy="2588716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23"/>
          <p:cNvSpPr txBox="1"/>
          <p:nvPr/>
        </p:nvSpPr>
        <p:spPr>
          <a:xfrm>
            <a:off x="571500" y="2548979"/>
            <a:ext cx="5550693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Επόμενα Βήματα</a:t>
            </a:r>
            <a:endParaRPr/>
          </a:p>
        </p:txBody>
      </p:sp>
      <p:sp>
        <p:nvSpPr>
          <p:cNvPr id="246" name="Google Shape;246;p23"/>
          <p:cNvSpPr txBox="1"/>
          <p:nvPr/>
        </p:nvSpPr>
        <p:spPr>
          <a:xfrm>
            <a:off x="914400" y="2920454"/>
            <a:ext cx="4943475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Αυθεντικοποίηση:</a:t>
            </a: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 Υλοποίηση ελέγχου πρόσβασης βάσει ρόλων (RBAC).</a:t>
            </a:r>
            <a:endParaRPr/>
          </a:p>
        </p:txBody>
      </p:sp>
      <p:sp>
        <p:nvSpPr>
          <p:cNvPr id="247" name="Google Shape;247;p23"/>
          <p:cNvSpPr txBox="1"/>
          <p:nvPr/>
        </p:nvSpPr>
        <p:spPr>
          <a:xfrm>
            <a:off x="942975" y="3659534"/>
            <a:ext cx="4914900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Document Management:</a:t>
            </a: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 Αποθήκευση απεικονιστικών εξετάσεων και αρχείων PDF.</a:t>
            </a:r>
            <a:endParaRPr/>
          </a:p>
        </p:txBody>
      </p:sp>
      <p:sp>
        <p:nvSpPr>
          <p:cNvPr id="248" name="Google Shape;248;p23"/>
          <p:cNvSpPr txBox="1"/>
          <p:nvPr/>
        </p:nvSpPr>
        <p:spPr>
          <a:xfrm>
            <a:off x="1000125" y="4398615"/>
            <a:ext cx="4857750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External APIs:</a:t>
            </a:r>
            <a:r>
              <a:rPr b="0" i="0" lang="en-US" sz="1350" u="none" cap="none" strike="noStrike">
                <a:solidFill>
                  <a:srgbClr val="4B5563"/>
                </a:solidFill>
                <a:latin typeface="Roboto"/>
                <a:ea typeface="Roboto"/>
                <a:cs typeface="Roboto"/>
                <a:sym typeface="Roboto"/>
              </a:rPr>
              <a:t> Διασύνδεση με την Ηλεκτρονική Συνταγογράφηση (IDIKA).</a:t>
            </a:r>
            <a:endParaRPr/>
          </a:p>
        </p:txBody>
      </p:sp>
      <p:pic>
        <p:nvPicPr>
          <p:cNvPr descr="image.png" id="249" name="Google Shape;249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2958554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0" name="Google Shape;250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3697634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1" name="Google Shape;251;p2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4436715"/>
            <a:ext cx="28575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23"/>
          <p:cNvSpPr txBox="1"/>
          <p:nvPr/>
        </p:nvSpPr>
        <p:spPr>
          <a:xfrm>
            <a:off x="762000" y="571500"/>
            <a:ext cx="114015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ΜΕΛΛΟΝΤΙΚ</a:t>
            </a:r>
            <a:r>
              <a:rPr b="1" lang="en-US" sz="2850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Ε</a:t>
            </a: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Σ ΕΠΕΚΤ</a:t>
            </a:r>
            <a:r>
              <a:rPr b="1" lang="en-US" sz="2850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Α</a:t>
            </a:r>
            <a:r>
              <a:rPr b="1" i="0" lang="en-US" sz="2850" u="none" cap="none" strike="noStrike">
                <a:solidFill>
                  <a:srgbClr val="002D62"/>
                </a:solidFill>
                <a:latin typeface="Merriweather"/>
                <a:ea typeface="Merriweather"/>
                <a:cs typeface="Merriweather"/>
                <a:sym typeface="Merriweather"/>
              </a:rPr>
              <a:t>ΣΕΙΣ</a:t>
            </a:r>
            <a:endParaRPr/>
          </a:p>
        </p:txBody>
      </p:sp>
      <p:sp>
        <p:nvSpPr>
          <p:cNvPr id="253" name="Google Shape;253;p23"/>
          <p:cNvSpPr/>
          <p:nvPr/>
        </p:nvSpPr>
        <p:spPr>
          <a:xfrm>
            <a:off x="571500" y="571500"/>
            <a:ext cx="76200" cy="4476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2D62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58" name="Google Shape;25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4"/>
          <p:cNvSpPr txBox="1"/>
          <p:nvPr/>
        </p:nvSpPr>
        <p:spPr>
          <a:xfrm>
            <a:off x="1486775" y="1319250"/>
            <a:ext cx="9475500" cy="14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800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Σας ευχαριστούμε για </a:t>
            </a:r>
            <a:endParaRPr b="1" sz="4800">
              <a:solidFill>
                <a:srgbClr val="FFFFFF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800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την προσοχή σας!</a:t>
            </a:r>
            <a:endParaRPr sz="200"/>
          </a:p>
        </p:txBody>
      </p:sp>
      <p:sp>
        <p:nvSpPr>
          <p:cNvPr id="260" name="Google Shape;260;p24"/>
          <p:cNvSpPr txBox="1"/>
          <p:nvPr/>
        </p:nvSpPr>
        <p:spPr>
          <a:xfrm>
            <a:off x="571500" y="4438650"/>
            <a:ext cx="11049000" cy="82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94A3B8"/>
                </a:solidFill>
                <a:latin typeface="Roboto"/>
                <a:ea typeface="Roboto"/>
                <a:cs typeface="Roboto"/>
                <a:sym typeface="Roboto"/>
              </a:rPr>
              <a:t>ΕΘΝΙΚΟ ΜΕΤΣΟΒΙΟ ΠΟΛΥΤΕΧΝΕΙΟ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50" u="none" cap="none" strike="noStrike">
                <a:solidFill>
                  <a:srgbClr val="94A3B8"/>
                </a:solidFill>
                <a:latin typeface="Roboto"/>
                <a:ea typeface="Roboto"/>
                <a:cs typeface="Roboto"/>
                <a:sym typeface="Roboto"/>
              </a:rPr>
              <a:t> Σχολή Ηλεκτρολόγων Μηχανικών &amp; Μηχανικών Υπολογιστών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50" u="none" cap="none" strike="noStrike">
                <a:solidFill>
                  <a:srgbClr val="94A3B8"/>
                </a:solidFill>
                <a:latin typeface="Roboto"/>
                <a:ea typeface="Roboto"/>
                <a:cs typeface="Roboto"/>
                <a:sym typeface="Roboto"/>
              </a:rPr>
              <a:t> Εργαστήριο Βιοϊατρικής Τεχνολογίας</a:t>
            </a:r>
            <a:endParaRPr/>
          </a:p>
        </p:txBody>
      </p:sp>
      <p:pic>
        <p:nvPicPr>
          <p:cNvPr descr="purforos" id="261" name="Google Shape;261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38800" y="3155888"/>
            <a:ext cx="914400" cy="923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